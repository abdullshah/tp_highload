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74" r:id="rId11"/>
    <p:sldId id="275" r:id="rId12"/>
    <p:sldId id="272" r:id="rId13"/>
    <p:sldId id="264" r:id="rId14"/>
    <p:sldId id="266" r:id="rId15"/>
    <p:sldId id="26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77872-D534-43D3-A77D-27FC9CC389A2}" type="datetimeFigureOut"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46090-2273-4815-B98B-496A48ACCE7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33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Представляю проект по проектированию highload-архитектуры для сервиса Сбербанк Онлайн.</a:t>
            </a:r>
            <a:endParaRPr lang="ru-RU"/>
          </a:p>
          <a:p>
            <a:endParaRPr lang="en-US" dirty="0"/>
          </a:p>
          <a:p>
            <a:r>
              <a:rPr lang="en-US"/>
              <a:t>Покажу, как на основе анализа реальных данных пришёл к обоснованному решению по закупке инфраструктуры.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834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Начал с анализа публичных данных о Сбербанк Онлайн. </a:t>
            </a:r>
            <a:endParaRPr lang="ru-RU"/>
          </a:p>
          <a:p>
            <a:endParaRPr lang="en-US" dirty="0"/>
          </a:p>
          <a:p>
            <a:r>
              <a:rPr lang="en-US"/>
              <a:t>Система обслуживает более 110 миллионов активных клиентов, из них 42.5 миллиона ежедневно используют сервис. </a:t>
            </a:r>
            <a:endParaRPr lang="ru-RU"/>
          </a:p>
          <a:p>
            <a:endParaRPr lang="en-US" dirty="0"/>
          </a:p>
          <a:p>
            <a:r>
              <a:rPr lang="en-US"/>
              <a:t>Каждый пользователь в среднем совершает 125 транзакций в месяц. </a:t>
            </a:r>
            <a:endParaRPr lang="ru-RU"/>
          </a:p>
          <a:p>
            <a:endParaRPr lang="en-US" dirty="0"/>
          </a:p>
          <a:p>
            <a:r>
              <a:rPr lang="en-US"/>
              <a:t>Банк работает 34 года. Эти цифры важны для понимания объёма накапливаемых данных.</a:t>
            </a:r>
            <a:endParaRPr lang="ru-RU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101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На основе DAU и частоты операций рассчитал пиковую нагрузку: 12 662 запросов в секунду с учётом тройного коэффициента для пиков. </a:t>
            </a:r>
            <a:endParaRPr lang="ru-RU"/>
          </a:p>
          <a:p>
            <a:endParaRPr lang="en-US" dirty="0"/>
          </a:p>
          <a:p>
            <a:r>
              <a:rPr lang="en-US"/>
              <a:t>База данных должна обрабатывать почти 10 тысяч операций чтения и более 5 тысяч операций записи в секунду. </a:t>
            </a:r>
            <a:endParaRPr lang="ru-RU"/>
          </a:p>
          <a:p>
            <a:endParaRPr lang="en-US" dirty="0"/>
          </a:p>
          <a:p>
            <a:r>
              <a:rPr lang="en-US"/>
              <a:t>Сетевой трафик в пике — 326 мегабит в секунду. </a:t>
            </a:r>
            <a:endParaRPr lang="ru-RU"/>
          </a:p>
          <a:p>
            <a:endParaRPr lang="en-US" dirty="0"/>
          </a:p>
          <a:p>
            <a:r>
              <a:rPr lang="en-US"/>
              <a:t>Эти метрики показывают высокую нагрузку, но главная проблема — не в нагрузке, а в объёме накапливаемых данных.</a:t>
            </a:r>
            <a:endParaRPr lang="ru-RU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332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Разбил систему на три домена по функциональности. </a:t>
            </a:r>
            <a:endParaRPr lang="ru-RU"/>
          </a:p>
          <a:p>
            <a:endParaRPr lang="en-US" dirty="0"/>
          </a:p>
          <a:p>
            <a:r>
              <a:rPr lang="en-US"/>
              <a:t>Домен transaction обрабатывает 62% нагрузки — это переводы, оплаты, кредиты. </a:t>
            </a:r>
            <a:endParaRPr lang="ru-RU"/>
          </a:p>
          <a:p>
            <a:endParaRPr lang="en-US" dirty="0"/>
          </a:p>
          <a:p>
            <a:r>
              <a:rPr lang="en-US"/>
              <a:t>Домен wallet — 38%, это получение баланса и истории. </a:t>
            </a:r>
            <a:endParaRPr lang="ru-RU"/>
          </a:p>
          <a:p>
            <a:endParaRPr lang="en-US" dirty="0"/>
          </a:p>
          <a:p>
            <a:r>
              <a:rPr lang="en-US"/>
              <a:t>Домен api — менее 1%, авторизация. </a:t>
            </a:r>
            <a:endParaRPr lang="ru-RU"/>
          </a:p>
          <a:p>
            <a:r>
              <a:rPr lang="en-US"/>
              <a:t>Такое разбиение позволяет масштабировать компоненты независимо.</a:t>
            </a:r>
            <a:endParaRPr lang="ru-RU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763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Рассчитал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базе</a:t>
            </a:r>
            <a:r>
              <a:rPr lang="en-US" dirty="0"/>
              <a:t>.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таблиц</a:t>
            </a:r>
            <a:r>
              <a:rPr lang="en-US" dirty="0"/>
              <a:t> </a:t>
            </a:r>
            <a:r>
              <a:rPr lang="en-US" dirty="0" err="1"/>
              <a:t>небольшие</a:t>
            </a:r>
            <a:r>
              <a:rPr lang="en-US" dirty="0"/>
              <a:t> —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гигабайт</a:t>
            </a:r>
            <a:r>
              <a:rPr lang="en-US" dirty="0"/>
              <a:t>. </a:t>
            </a:r>
            <a:endParaRPr lang="ru-RU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transactions </a:t>
            </a:r>
            <a:r>
              <a:rPr lang="en-US" dirty="0" err="1"/>
              <a:t>составляет</a:t>
            </a:r>
            <a:r>
              <a:rPr lang="en-US" dirty="0"/>
              <a:t> 587 </a:t>
            </a:r>
            <a:r>
              <a:rPr lang="en-US" dirty="0" err="1"/>
              <a:t>терабайт</a:t>
            </a:r>
            <a:r>
              <a:rPr lang="en-US" dirty="0"/>
              <a:t>!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транзакции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34 </a:t>
            </a:r>
            <a:r>
              <a:rPr lang="en-US" dirty="0" err="1"/>
              <a:t>года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банка</a:t>
            </a:r>
            <a:r>
              <a:rPr lang="en-US" dirty="0"/>
              <a:t>. </a:t>
            </a:r>
            <a:endParaRPr lang="ru-RU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? PostgreSQL </a:t>
            </a:r>
            <a:r>
              <a:rPr lang="en-US" dirty="0" err="1"/>
              <a:t>оптимально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таблицами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1-2 </a:t>
            </a:r>
            <a:r>
              <a:rPr lang="en-US" dirty="0" err="1"/>
              <a:t>терабайт</a:t>
            </a:r>
            <a:r>
              <a:rPr lang="en-US" dirty="0"/>
              <a:t>. </a:t>
            </a:r>
            <a:endParaRPr lang="ru-RU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объёмах</a:t>
            </a:r>
            <a:r>
              <a:rPr lang="en-US" dirty="0"/>
              <a:t> </a:t>
            </a:r>
            <a:r>
              <a:rPr lang="en-US" dirty="0" err="1"/>
              <a:t>резко</a:t>
            </a:r>
            <a:r>
              <a:rPr lang="en-US" dirty="0"/>
              <a:t> </a:t>
            </a:r>
            <a:r>
              <a:rPr lang="en-US" dirty="0" err="1"/>
              <a:t>падает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запросов</a:t>
            </a:r>
            <a:r>
              <a:rPr lang="en-US" dirty="0"/>
              <a:t>, </a:t>
            </a:r>
            <a:r>
              <a:rPr lang="en-US" dirty="0" err="1"/>
              <a:t>индексы</a:t>
            </a:r>
            <a:r>
              <a:rPr lang="en-US" dirty="0"/>
              <a:t> </a:t>
            </a:r>
            <a:r>
              <a:rPr lang="en-US" dirty="0" err="1"/>
              <a:t>перестают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, </a:t>
            </a:r>
            <a:r>
              <a:rPr lang="en-US" dirty="0" err="1"/>
              <a:t>бэкапы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проблематичными</a:t>
            </a:r>
            <a:r>
              <a:rPr lang="en-US" dirty="0"/>
              <a:t>. </a:t>
            </a:r>
            <a:endParaRPr lang="ru-RU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Также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невозможно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разместить</a:t>
            </a:r>
            <a:r>
              <a:rPr lang="en-US" dirty="0">
                <a:ea typeface="Calibri"/>
                <a:cs typeface="Calibri"/>
              </a:rPr>
              <a:t> 587 ТБ </a:t>
            </a:r>
            <a:r>
              <a:rPr lang="en-US" dirty="0" err="1">
                <a:ea typeface="Calibri"/>
                <a:cs typeface="Calibri"/>
              </a:rPr>
              <a:t>на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одном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сервере</a:t>
            </a:r>
            <a:r>
              <a:rPr lang="en-US" dirty="0">
                <a:ea typeface="Calibri"/>
                <a:cs typeface="Calibri"/>
              </a:rPr>
              <a:t>.</a:t>
            </a:r>
            <a:endParaRPr lang="ru-RU" dirty="0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877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Решение — шардирование. </a:t>
            </a:r>
            <a:endParaRPr lang="ru-RU"/>
          </a:p>
          <a:p>
            <a:endParaRPr lang="en-US" dirty="0"/>
          </a:p>
          <a:p>
            <a:r>
              <a:rPr lang="en-US"/>
              <a:t>Сначала разделил транзакции вертикально: зачисления и списания в отдельные таблицы. </a:t>
            </a:r>
            <a:endParaRPr lang="ru-RU"/>
          </a:p>
          <a:p>
            <a:endParaRPr lang="en-US" dirty="0"/>
          </a:p>
          <a:p>
            <a:r>
              <a:rPr lang="en-US"/>
              <a:t>Затем каждую таблицу разбил горизонтально на шарды по 1 терабайту. </a:t>
            </a:r>
            <a:endParaRPr lang="ru-RU"/>
          </a:p>
          <a:p>
            <a:endParaRPr lang="en-US" dirty="0"/>
          </a:p>
          <a:p>
            <a:r>
              <a:rPr lang="en-US"/>
              <a:t>Шардирование по ключу счёта позволяет быстро находить нужный шард. </a:t>
            </a:r>
            <a:endParaRPr lang="ru-RU"/>
          </a:p>
          <a:p>
            <a:endParaRPr lang="en-US" dirty="0"/>
          </a:p>
          <a:p>
            <a:r>
              <a:rPr lang="en-US"/>
              <a:t>Итого получилось 1174 шарда для транзакций. Receipts не шардируются, но занимают отдельный сервер. </a:t>
            </a:r>
            <a:endParaRPr lang="ru-RU"/>
          </a:p>
          <a:p>
            <a:endParaRPr lang="en-US" dirty="0"/>
          </a:p>
          <a:p>
            <a:r>
              <a:rPr lang="en-US"/>
              <a:t>Но это только основные данные — для отказоустойчивости нужны реплики.</a:t>
            </a:r>
            <a:endParaRPr lang="ru-RU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rPr lang="ru-RU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284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Рассчитал требования к серверам. На одном сервере размещаю 8 шардов — это 8 терабайт данных плюс запас для WAL-логов и индексов. </a:t>
            </a:r>
            <a:endParaRPr lang="ru-RU"/>
          </a:p>
          <a:p>
            <a:endParaRPr lang="en-US" dirty="0"/>
          </a:p>
          <a:p>
            <a:r>
              <a:rPr lang="en-US"/>
              <a:t>Для credit нужно 74 сервера, для debit — ещё 74, плюс 1 сервер для receipts. </a:t>
            </a:r>
            <a:endParaRPr lang="ru-RU"/>
          </a:p>
          <a:p>
            <a:endParaRPr lang="en-US" dirty="0"/>
          </a:p>
          <a:p>
            <a:r>
              <a:rPr lang="en-US"/>
              <a:t>Итого 149 основных серверов. Но для отказоустойчивости нужны реплики — по 2 реплики на каждый основной сервер, распределённые по 3 availability-зонам. </a:t>
            </a:r>
            <a:endParaRPr lang="ru-RU"/>
          </a:p>
          <a:p>
            <a:endParaRPr lang="en-US" dirty="0"/>
          </a:p>
          <a:p>
            <a:r>
              <a:rPr lang="en-US"/>
              <a:t>Итого 447 серверов только для хранения исторических данных! Это уже серьёзная инфраструктура.</a:t>
            </a:r>
            <a:endParaRPr lang="ru-RU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rPr lang="ru-RU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781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Теперь полная картина базы данных. </a:t>
            </a:r>
            <a:endParaRPr lang="ru-RU"/>
          </a:p>
          <a:p>
            <a:r>
              <a:rPr lang="en-US"/>
              <a:t>Помимо шардов, нужны мастер и две реплики для оперативных данных (users, accounts, deposits, user_cards) — это 3 сервера с 512 ГБ RAM каждый. </a:t>
            </a:r>
            <a:endParaRPr lang="ru-RU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/>
              <a:t>Плюс 447 серверов для исторических данных: 149 основных и 298 реплик, распределённых по 3 availability-зонам. </a:t>
            </a:r>
            <a:endParaRPr lang="ru-RU"/>
          </a:p>
          <a:p>
            <a:endParaRPr lang="en-US" dirty="0"/>
          </a:p>
          <a:p>
            <a:r>
              <a:rPr lang="en-US"/>
              <a:t>Итого 453 сервер только для данных! Это </a:t>
            </a:r>
            <a:r>
              <a:rPr lang="ru-RU" b="1" dirty="0"/>
              <a:t>14 664</a:t>
            </a:r>
            <a:r>
              <a:rPr lang="en-US" dirty="0"/>
              <a:t> ядра CPU и 58 терабайт RAM. База данных становится доминирующим компонентом инфраструктуры.</a:t>
            </a:r>
            <a:endParaRPr lang="ru-RU" dirty="0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rPr lang="ru-RU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226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… Поэтому если надо прямо сейчас заменить Сбербанк, </a:t>
            </a:r>
            <a:r>
              <a:rPr lang="en-US"/>
              <a:t>отстенгите </a:t>
            </a:r>
            <a:r>
              <a:rPr lang="en-US" dirty="0"/>
              <a:t>$6 790 440))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46090-2273-4815-B98B-496A48ACCE72}" type="slidenum">
              <a:rPr lang="ru-RU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63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a typeface="+mj-lt"/>
                <a:cs typeface="+mj-lt"/>
              </a:rPr>
              <a:t>Сбербанк Онлайн как </a:t>
            </a:r>
            <a:r>
              <a:rPr lang="ru-RU" dirty="0" err="1">
                <a:ea typeface="+mj-lt"/>
                <a:cs typeface="+mj-lt"/>
              </a:rPr>
              <a:t>highload</a:t>
            </a:r>
            <a:r>
              <a:rPr lang="ru-RU" dirty="0">
                <a:ea typeface="+mj-lt"/>
                <a:cs typeface="+mj-lt"/>
              </a:rPr>
              <a:t>-система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ru-RU" sz="3200" dirty="0">
                <a:latin typeface="Aptos Display"/>
              </a:rPr>
              <a:t>Абдуллаев Ш.</a:t>
            </a:r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B9D29-F8EB-EE27-3EDA-608D042C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Исходные данные: масштаб системы</a:t>
            </a:r>
            <a:endParaRPr lang="ru-RU" dirty="0"/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FCAD76FB-159E-F8D0-79B0-7340B10F5A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1733454"/>
              </p:ext>
            </p:extLst>
          </p:nvPr>
        </p:nvGraphicFramePr>
        <p:xfrm>
          <a:off x="838200" y="1825625"/>
          <a:ext cx="105156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671158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25117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1" i="0" u="none" strike="noStrike" noProof="0" dirty="0">
                          <a:latin typeface="Aptos"/>
                        </a:rPr>
                        <a:t>Метрика</a:t>
                      </a:r>
                      <a:endParaRPr lang="ru-RU" sz="2400" b="1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1" i="0" u="none" strike="noStrike" noProof="0" dirty="0">
                          <a:latin typeface="Aptos"/>
                        </a:rPr>
                        <a:t>Значение</a:t>
                      </a:r>
                      <a:endParaRPr lang="ru-RU" sz="2400" b="1" i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874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/>
                        <a:t>Активные клиенты, 2025</a:t>
                      </a:r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>
                          <a:latin typeface="Aptos"/>
                        </a:rPr>
                        <a:t>&gt;110 млн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668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>
                          <a:latin typeface="Aptos"/>
                        </a:rPr>
                        <a:t>Daily Active </a:t>
                      </a:r>
                      <a:r>
                        <a:rPr lang="ru-RU" sz="2400" b="0" i="0" u="none" strike="noStrike" noProof="0" err="1">
                          <a:latin typeface="Aptos"/>
                        </a:rPr>
                        <a:t>Users</a:t>
                      </a:r>
                      <a:r>
                        <a:rPr lang="ru-RU" sz="2400" b="0" i="0" u="none" strike="noStrike" noProof="0" dirty="0">
                          <a:latin typeface="Aptos"/>
                        </a:rPr>
                        <a:t> (DAU)</a:t>
                      </a:r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>
                          <a:latin typeface="Aptos"/>
                        </a:rPr>
                        <a:t>42.5 млн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32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>
                          <a:latin typeface="Aptos"/>
                        </a:rPr>
                        <a:t>Новые сессии в минуту</a:t>
                      </a:r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>
                          <a:latin typeface="Aptos"/>
                        </a:rPr>
                        <a:t>110 </a:t>
                      </a:r>
                      <a:r>
                        <a:rPr lang="ru-RU" sz="2400" b="0" i="0" u="none" strike="noStrike" noProof="0" err="1">
                          <a:latin typeface="Aptos"/>
                        </a:rPr>
                        <a:t>тыс</a:t>
                      </a:r>
                      <a:r>
                        <a:rPr lang="ru-RU" sz="2400" b="0" i="0" u="none" strike="noStrike" noProof="0" dirty="0">
                          <a:latin typeface="Aptos"/>
                        </a:rPr>
                        <a:t>/мин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958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>
                          <a:latin typeface="Aptos"/>
                        </a:rPr>
                        <a:t>Активные сессии одновременно</a:t>
                      </a:r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 dirty="0">
                          <a:latin typeface="Aptos"/>
                        </a:rPr>
                        <a:t>&gt;550 </a:t>
                      </a:r>
                      <a:r>
                        <a:rPr lang="ru-RU" sz="2400" b="0" i="0" u="none" strike="noStrike" noProof="0" err="1">
                          <a:latin typeface="Aptos"/>
                        </a:rPr>
                        <a:t>тыс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5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/>
                        <a:t>Частота использования</a:t>
                      </a:r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/>
                        <a:t>25 раз в месяц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9502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>
                          <a:latin typeface="Aptos"/>
                        </a:rPr>
                        <a:t>Длительность сессии</a:t>
                      </a:r>
                      <a:endParaRPr lang="ru-R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400" b="0" i="0" u="none" strike="noStrike" noProof="0">
                          <a:latin typeface="Aptos"/>
                        </a:rPr>
                        <a:t>~5 минут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2475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9F9323-1840-A561-E9BB-8B5383EBD002}"/>
              </a:ext>
            </a:extLst>
          </p:cNvPr>
          <p:cNvSpPr txBox="1"/>
          <p:nvPr/>
        </p:nvSpPr>
        <p:spPr>
          <a:xfrm>
            <a:off x="841157" y="5323114"/>
            <a:ext cx="10512642" cy="11103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C9873-9BB7-05A4-A9FB-DD1A43D65F26}"/>
              </a:ext>
            </a:extLst>
          </p:cNvPr>
          <p:cNvSpPr txBox="1"/>
          <p:nvPr/>
        </p:nvSpPr>
        <p:spPr>
          <a:xfrm>
            <a:off x="836721" y="5318678"/>
            <a:ext cx="105141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ru-RU" sz="2400">
                <a:ea typeface="+mn-lt"/>
                <a:cs typeface="+mn-lt"/>
              </a:rPr>
              <a:t>125 транзакций на пользователя в месяц</a:t>
            </a:r>
            <a:endParaRPr lang="ru-RU" sz="2400"/>
          </a:p>
          <a:p>
            <a:pPr marL="285750" indent="-285750">
              <a:buFont typeface="Arial"/>
              <a:buChar char="•"/>
            </a:pPr>
            <a:r>
              <a:rPr lang="ru-RU" sz="2400">
                <a:ea typeface="+mn-lt"/>
                <a:cs typeface="+mn-lt"/>
              </a:rPr>
              <a:t>84.3 млн активных пользователей в месяц</a:t>
            </a:r>
          </a:p>
          <a:p>
            <a:pPr marL="285750" indent="-285750">
              <a:buFont typeface="Arial"/>
              <a:buChar char="•"/>
            </a:pPr>
            <a:r>
              <a:rPr lang="ru-RU" sz="2400">
                <a:ea typeface="+mn-lt"/>
                <a:cs typeface="+mn-lt"/>
              </a:rPr>
              <a:t>34 года работы банка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404054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D7C05-F0B4-59CA-6DDD-2CE083D8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Расчет нагрузки: ключевые метрики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B37CA-86B6-2C32-A3EF-D916F3504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23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b="1">
                <a:ea typeface="+mn-lt"/>
                <a:cs typeface="+mn-lt"/>
              </a:rPr>
              <a:t>Пиковый RPS:</a:t>
            </a:r>
            <a:r>
              <a:rPr lang="ru-RU" sz="2400">
                <a:ea typeface="+mn-lt"/>
                <a:cs typeface="+mn-lt"/>
              </a:rPr>
              <a:t> 12 662 запросов/сек</a:t>
            </a:r>
          </a:p>
          <a:p>
            <a:r>
              <a:rPr lang="ru-RU" sz="2400" b="1">
                <a:ea typeface="+mn-lt"/>
                <a:cs typeface="+mn-lt"/>
              </a:rPr>
              <a:t>Пиковый сетевой трафик:</a:t>
            </a:r>
            <a:r>
              <a:rPr lang="ru-RU" sz="2400">
                <a:ea typeface="+mn-lt"/>
                <a:cs typeface="+mn-lt"/>
              </a:rPr>
              <a:t> 326 Мбит/с</a:t>
            </a:r>
            <a:endParaRPr lang="ru-RU" sz="2400" dirty="0">
              <a:ea typeface="+mn-lt"/>
              <a:cs typeface="+mn-lt"/>
            </a:endParaRPr>
          </a:p>
          <a:p>
            <a:r>
              <a:rPr lang="ru-RU" sz="2400" b="1">
                <a:ea typeface="+mn-lt"/>
                <a:cs typeface="+mn-lt"/>
              </a:rPr>
              <a:t>Объем данных :</a:t>
            </a:r>
            <a:r>
              <a:rPr lang="ru-RU" sz="2400">
                <a:ea typeface="+mn-lt"/>
                <a:cs typeface="+mn-lt"/>
              </a:rPr>
              <a:t> 594 ТБ 🚩</a:t>
            </a:r>
            <a:endParaRPr lang="ru-RU" sz="2400" b="1">
              <a:ea typeface="+mn-lt"/>
              <a:cs typeface="+mn-lt"/>
            </a:endParaRPr>
          </a:p>
          <a:p>
            <a:r>
              <a:rPr lang="ru-RU" sz="2400" b="1">
                <a:ea typeface="+mn-lt"/>
                <a:cs typeface="+mn-lt"/>
              </a:rPr>
              <a:t>Нагрузка на БД: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2000">
                <a:ea typeface="+mn-lt"/>
                <a:cs typeface="+mn-lt"/>
              </a:rPr>
              <a:t>Чтение: 9 425 QPS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2000">
                <a:ea typeface="+mn-lt"/>
                <a:cs typeface="+mn-lt"/>
              </a:rPr>
              <a:t>Запись: 5 222 QPS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2000">
                <a:ea typeface="+mn-lt"/>
                <a:cs typeface="+mn-lt"/>
              </a:rPr>
              <a:t>Суммарная: 14 647 QPS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CA1BDE7-FFF7-DDE5-6552-00A48B0BAFC0}"/>
              </a:ext>
            </a:extLst>
          </p:cNvPr>
          <p:cNvSpPr txBox="1">
            <a:spLocks/>
          </p:cNvSpPr>
          <p:nvPr/>
        </p:nvSpPr>
        <p:spPr>
          <a:xfrm>
            <a:off x="840081" y="4743803"/>
            <a:ext cx="10515600" cy="1745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>
                <a:ea typeface="+mn-lt"/>
                <a:cs typeface="+mn-lt"/>
              </a:rPr>
              <a:t>* Допущения и расчеты:</a:t>
            </a:r>
          </a:p>
          <a:p>
            <a:r>
              <a:rPr lang="ru-RU" sz="1800">
                <a:ea typeface="+mn-lt"/>
                <a:cs typeface="+mn-lt"/>
              </a:rPr>
              <a:t>RPS = Операций в сутки / 86 400 × 3 (пиковый коэффициент)</a:t>
            </a:r>
          </a:p>
          <a:p>
            <a:r>
              <a:rPr lang="ru-RU" sz="1800">
                <a:ea typeface="+mn-lt"/>
                <a:cs typeface="+mn-lt"/>
              </a:rPr>
              <a:t>Объем = 125 транзакций/мес × 84.3 млн × 34 года × 150 байт</a:t>
            </a:r>
          </a:p>
        </p:txBody>
      </p:sp>
    </p:spTree>
    <p:extLst>
      <p:ext uri="{BB962C8B-B14F-4D97-AF65-F5344CB8AC3E}">
        <p14:creationId xmlns:p14="http://schemas.microsoft.com/office/powerpoint/2010/main" val="1095244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235CF-4C97-E467-94C9-811A2FD7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Архитектура: функциональное разбиение по доменам</a:t>
            </a:r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1587119-7293-0C73-D97D-F92798C956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277390"/>
              </p:ext>
            </p:extLst>
          </p:nvPr>
        </p:nvGraphicFramePr>
        <p:xfrm>
          <a:off x="838200" y="1825625"/>
          <a:ext cx="10515594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3250735508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4044743729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594888403"/>
                    </a:ext>
                  </a:extLst>
                </a:gridCol>
                <a:gridCol w="1371594">
                  <a:extLst>
                    <a:ext uri="{9D8B030D-6E8A-4147-A177-3AD203B41FA5}">
                      <a16:colId xmlns:a16="http://schemas.microsoft.com/office/drawing/2014/main" val="678560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b="1" i="0" u="none" strike="noStrike" baseline="0" noProof="0">
                          <a:solidFill>
                            <a:schemeClr val="tx1"/>
                          </a:solidFill>
                        </a:rPr>
                        <a:t>Домен</a:t>
                      </a:r>
                      <a:endParaRPr lang="ru-RU" sz="2000" b="1" i="0" u="non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b="1" i="0" u="none" strike="noStrike" baseline="0" noProof="0">
                          <a:solidFill>
                            <a:schemeClr val="tx1"/>
                          </a:solidFill>
                        </a:rPr>
                        <a:t>Функционал</a:t>
                      </a:r>
                      <a:endParaRPr lang="ru-RU" sz="2000" b="1" i="0" u="non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b="1" i="0" u="none" strike="noStrike" baseline="0" noProof="0">
                          <a:solidFill>
                            <a:schemeClr val="tx1"/>
                          </a:solidFill>
                        </a:rPr>
                        <a:t>Пиковый RPS</a:t>
                      </a:r>
                      <a:endParaRPr lang="ru-RU" sz="2000" b="1" i="0" u="non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b="1" i="0" u="none" strike="noStrike" baseline="0" noProof="0">
                          <a:solidFill>
                            <a:schemeClr val="tx1"/>
                          </a:solidFill>
                        </a:rPr>
                        <a:t>Доля</a:t>
                      </a:r>
                      <a:endParaRPr lang="ru-RU" sz="2000" b="1" i="0" u="none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375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1" u="none" strike="noStrike" baseline="0" noProof="0">
                          <a:solidFill>
                            <a:srgbClr val="000000"/>
                          </a:solidFill>
                        </a:rPr>
                        <a:t>transaction</a:t>
                      </a:r>
                      <a:endParaRPr lang="ru-RU" sz="2000" i="1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>
                          <a:solidFill>
                            <a:srgbClr val="000000"/>
                          </a:solidFill>
                        </a:rPr>
                        <a:t>Переводы, оплаты, кредиты</a:t>
                      </a:r>
                      <a:endParaRPr lang="ru-RU" sz="2000" i="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 dirty="0">
                          <a:solidFill>
                            <a:srgbClr val="000000"/>
                          </a:solidFill>
                        </a:rPr>
                        <a:t>7 818</a:t>
                      </a:r>
                      <a:endParaRPr lang="ru-RU" sz="2000" i="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>
                          <a:solidFill>
                            <a:srgbClr val="000000"/>
                          </a:solidFill>
                        </a:rPr>
                        <a:t>62%</a:t>
                      </a:r>
                      <a:endParaRPr lang="ru-RU" sz="2000" i="0" u="none"/>
                    </a:p>
                    <a:p>
                      <a:pPr lvl="0">
                        <a:buNone/>
                      </a:pPr>
                      <a:endParaRPr lang="ru-RU" sz="20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7415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1" u="none" strike="noStrike" baseline="0" noProof="0">
                          <a:solidFill>
                            <a:srgbClr val="000000"/>
                          </a:solidFill>
                        </a:rPr>
                        <a:t>wallet</a:t>
                      </a:r>
                      <a:endParaRPr lang="ru-RU" sz="2000" i="1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>
                          <a:solidFill>
                            <a:srgbClr val="000000"/>
                          </a:solidFill>
                        </a:rPr>
                        <a:t>Баланс, история, чеки</a:t>
                      </a:r>
                      <a:endParaRPr lang="ru-RU" sz="2000" i="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 dirty="0">
                          <a:solidFill>
                            <a:srgbClr val="000000"/>
                          </a:solidFill>
                        </a:rPr>
                        <a:t>4 794</a:t>
                      </a:r>
                      <a:endParaRPr lang="ru-RU" sz="2000" i="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>
                          <a:solidFill>
                            <a:srgbClr val="000000"/>
                          </a:solidFill>
                        </a:rPr>
                        <a:t>37%</a:t>
                      </a:r>
                      <a:endParaRPr lang="ru-RU" sz="2000" i="0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42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1" u="none" strike="noStrike" baseline="0" noProof="0">
                          <a:solidFill>
                            <a:srgbClr val="000000"/>
                          </a:solidFill>
                        </a:rPr>
                        <a:t>api</a:t>
                      </a:r>
                      <a:endParaRPr lang="ru-RU" sz="2000" i="1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>
                          <a:solidFill>
                            <a:srgbClr val="000000"/>
                          </a:solidFill>
                        </a:rPr>
                        <a:t>Авторизация, вспомогательные</a:t>
                      </a:r>
                      <a:endParaRPr lang="ru-RU" sz="2000" i="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ru-RU" sz="2000" i="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i="0" u="none" strike="noStrike" baseline="0" noProof="0">
                          <a:solidFill>
                            <a:srgbClr val="000000"/>
                          </a:solidFill>
                        </a:rPr>
                        <a:t>&lt; 1%</a:t>
                      </a:r>
                      <a:endParaRPr lang="ru-RU" sz="2000" i="0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47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7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>
            <a:extLst>
              <a:ext uri="{FF2B5EF4-FFF2-40B4-BE49-F238E27FC236}">
                <a16:creationId xmlns:a16="http://schemas.microsoft.com/office/drawing/2014/main" id="{A7DACC73-8C78-C9C9-C404-66621A180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790" y="182128"/>
            <a:ext cx="9892421" cy="65060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CAAC72-D828-2B96-9B94-3F16C3AFA9B4}"/>
              </a:ext>
            </a:extLst>
          </p:cNvPr>
          <p:cNvSpPr txBox="1"/>
          <p:nvPr/>
        </p:nvSpPr>
        <p:spPr>
          <a:xfrm>
            <a:off x="163148" y="6135961"/>
            <a:ext cx="617316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latin typeface="Aptos Display"/>
              </a:rPr>
              <a:t>Архитектура</a:t>
            </a:r>
            <a:r>
              <a:rPr lang="en-US" sz="4400"/>
              <a:t>: схема​</a:t>
            </a:r>
          </a:p>
          <a:p>
            <a:pPr algn="ctr"/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32482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5A39C-F723-DBF3-6B28-945438CB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Проблема: объём данных в базе данных</a:t>
            </a:r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36E2F8A-F024-2937-312E-4849065875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21204"/>
              </p:ext>
            </p:extLst>
          </p:nvPr>
        </p:nvGraphicFramePr>
        <p:xfrm>
          <a:off x="838200" y="1825625"/>
          <a:ext cx="10515595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648">
                  <a:extLst>
                    <a:ext uri="{9D8B030D-6E8A-4147-A177-3AD203B41FA5}">
                      <a16:colId xmlns:a16="http://schemas.microsoft.com/office/drawing/2014/main" val="3668690505"/>
                    </a:ext>
                  </a:extLst>
                </a:gridCol>
                <a:gridCol w="2049160">
                  <a:extLst>
                    <a:ext uri="{9D8B030D-6E8A-4147-A177-3AD203B41FA5}">
                      <a16:colId xmlns:a16="http://schemas.microsoft.com/office/drawing/2014/main" val="999285757"/>
                    </a:ext>
                  </a:extLst>
                </a:gridCol>
                <a:gridCol w="6746787">
                  <a:extLst>
                    <a:ext uri="{9D8B030D-6E8A-4147-A177-3AD203B41FA5}">
                      <a16:colId xmlns:a16="http://schemas.microsoft.com/office/drawing/2014/main" val="2806852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Таблица</a:t>
                      </a:r>
                      <a:endParaRPr lang="ru-RU" sz="2000" b="1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Размер данных</a:t>
                      </a:r>
                      <a:endParaRPr lang="ru-RU" sz="2000" b="1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Расчёт</a:t>
                      </a:r>
                      <a:endParaRPr lang="ru-RU" sz="2000" b="1" i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13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1" u="none" strike="noStrike" noProof="0">
                          <a:latin typeface="Aptos"/>
                        </a:rPr>
                        <a:t>users</a:t>
                      </a:r>
                      <a:endParaRPr lang="ru-RU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17 ГБ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110 млн × 165 байт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53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1" u="none" strike="noStrike" noProof="0">
                          <a:latin typeface="Aptos"/>
                        </a:rPr>
                        <a:t>accounts</a:t>
                      </a:r>
                      <a:endParaRPr lang="ru-RU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4 </a:t>
                      </a: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ГБ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110 млн × 40 байт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21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1" u="none" strike="noStrike" noProof="0">
                          <a:latin typeface="Aptos"/>
                        </a:rPr>
                        <a:t>transactions</a:t>
                      </a:r>
                      <a:endParaRPr lang="ru-RU" sz="2000" b="1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1"/>
                        <a:t>587 ТБ</a:t>
                      </a:r>
                      <a:endParaRPr lang="ru-RU" sz="2000" b="1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b="1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125 транз/мес × 12 мес × 34 года × 84.3 млн × 150 байт</a:t>
                      </a:r>
                      <a:endParaRPr lang="ru-RU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1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1" u="none" strike="noStrike" noProof="0">
                          <a:latin typeface="Aptos"/>
                        </a:rPr>
                        <a:t>receipts</a:t>
                      </a:r>
                      <a:endParaRPr lang="ru-RU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7.6 </a:t>
                      </a: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ГБ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2 чека/мес × 12 мес × 34 года × 84.3 млн × 120 байт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09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1" u="none" strike="noStrike" noProof="0">
                          <a:latin typeface="Aptos"/>
                        </a:rPr>
                        <a:t>user_cards</a:t>
                      </a:r>
                      <a:endParaRPr lang="ru-RU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14 </a:t>
                      </a: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ГБ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110 млн × 141 байт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22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1" u="none" strike="noStrike" noProof="0">
                          <a:latin typeface="Aptos"/>
                        </a:rPr>
                        <a:t>deposits</a:t>
                      </a:r>
                      <a:endParaRPr lang="ru-RU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1.2 </a:t>
                      </a: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ГБ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(2025 г. - 1981 г.) * (66 тыс * 12) * 37 байт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5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1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~594 ТБ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503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A53590B-01BD-B056-3911-E929BD4833EA}"/>
              </a:ext>
            </a:extLst>
          </p:cNvPr>
          <p:cNvSpPr txBox="1"/>
          <p:nvPr/>
        </p:nvSpPr>
        <p:spPr>
          <a:xfrm>
            <a:off x="849085" y="4974771"/>
            <a:ext cx="10602685" cy="10559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C14CD-B0B8-8A67-3FC1-2FCD34DA3E66}"/>
              </a:ext>
            </a:extLst>
          </p:cNvPr>
          <p:cNvSpPr txBox="1"/>
          <p:nvPr/>
        </p:nvSpPr>
        <p:spPr>
          <a:xfrm>
            <a:off x="914399" y="5072742"/>
            <a:ext cx="10374085" cy="914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3BA4B-3EFC-F585-5EC0-BCEDF39EF674}"/>
              </a:ext>
            </a:extLst>
          </p:cNvPr>
          <p:cNvSpPr txBox="1"/>
          <p:nvPr/>
        </p:nvSpPr>
        <p:spPr>
          <a:xfrm>
            <a:off x="837261" y="5206999"/>
            <a:ext cx="1060214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Проблемы:</a:t>
            </a:r>
            <a:endParaRPr lang="ru-RU" sz="2000" b="1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PostgreSQL оптимально работает с таблицами до 1-2 ТБ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Одна таблица </a:t>
            </a:r>
            <a:r>
              <a:rPr lang="en-US" sz="2000" i="1">
                <a:ea typeface="+mn-lt"/>
                <a:cs typeface="+mn-lt"/>
              </a:rPr>
              <a:t>transactions</a:t>
            </a:r>
            <a:r>
              <a:rPr lang="en-US" sz="2000">
                <a:ea typeface="+mn-lt"/>
                <a:cs typeface="+mn-lt"/>
              </a:rPr>
              <a:t> уже равна 587 ТБ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5094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660D4-84D5-8015-052F-B3F11762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Решение: шардирование транзакций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2FF2E-BE1D-F6A5-0F59-465FFC6C5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b="1">
                <a:ea typeface="+mn-lt"/>
                <a:cs typeface="+mn-lt"/>
              </a:rPr>
              <a:t>Вертикальное шардирование:</a:t>
            </a:r>
          </a:p>
          <a:p>
            <a:r>
              <a:rPr lang="ru-RU" sz="2400" i="1">
                <a:ea typeface="+mn-lt"/>
                <a:cs typeface="+mn-lt"/>
              </a:rPr>
              <a:t>transactions_credit</a:t>
            </a:r>
            <a:r>
              <a:rPr lang="ru-RU" sz="2400">
                <a:ea typeface="+mn-lt"/>
                <a:cs typeface="+mn-lt"/>
              </a:rPr>
              <a:t> — все зачисления (587 ТБ)</a:t>
            </a:r>
            <a:endParaRPr lang="ru-RU" sz="2400" dirty="0">
              <a:ea typeface="+mn-lt"/>
              <a:cs typeface="+mn-lt"/>
            </a:endParaRPr>
          </a:p>
          <a:p>
            <a:r>
              <a:rPr lang="ru-RU" sz="2400" i="1">
                <a:ea typeface="+mn-lt"/>
                <a:cs typeface="+mn-lt"/>
              </a:rPr>
              <a:t>transactions_debit</a:t>
            </a:r>
            <a:r>
              <a:rPr lang="ru-RU" sz="2400">
                <a:ea typeface="+mn-lt"/>
                <a:cs typeface="+mn-lt"/>
              </a:rPr>
              <a:t> — все списания (587 ТБ) </a:t>
            </a:r>
            <a:endParaRPr lang="ru-RU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ru-RU" sz="2400" b="1">
                <a:ea typeface="+mn-lt"/>
                <a:cs typeface="+mn-lt"/>
              </a:rPr>
              <a:t>Горизонтальное шардирование</a:t>
            </a:r>
            <a:r>
              <a:rPr lang="ru-RU" sz="2400">
                <a:ea typeface="+mn-lt"/>
                <a:cs typeface="+mn-lt"/>
              </a:rPr>
              <a:t>:</a:t>
            </a:r>
            <a:endParaRPr lang="ru-RU" sz="2400" dirty="0">
              <a:ea typeface="+mn-lt"/>
              <a:cs typeface="+mn-lt"/>
            </a:endParaRPr>
          </a:p>
          <a:p>
            <a:r>
              <a:rPr lang="ru-RU" sz="2400">
                <a:ea typeface="+mn-lt"/>
                <a:cs typeface="+mn-lt"/>
              </a:rPr>
              <a:t>Каждая таблица разбита на </a:t>
            </a:r>
            <a:r>
              <a:rPr lang="ru-RU" sz="2400" b="1">
                <a:ea typeface="+mn-lt"/>
                <a:cs typeface="+mn-lt"/>
              </a:rPr>
              <a:t>587 шардов</a:t>
            </a:r>
            <a:r>
              <a:rPr lang="ru-RU" sz="2400">
                <a:ea typeface="+mn-lt"/>
                <a:cs typeface="+mn-lt"/>
              </a:rPr>
              <a:t> по 1 ТБ каждый (всего 1174 шарда)</a:t>
            </a:r>
            <a:endParaRPr lang="ru-RU" sz="2400" dirty="0">
              <a:ea typeface="+mn-lt"/>
              <a:cs typeface="+mn-lt"/>
            </a:endParaRPr>
          </a:p>
          <a:p>
            <a:r>
              <a:rPr lang="ru-RU" sz="2400">
                <a:ea typeface="+mn-lt"/>
                <a:cs typeface="+mn-lt"/>
              </a:rPr>
              <a:t>Шардирование по ключу: </a:t>
            </a:r>
            <a:r>
              <a:rPr lang="ru-RU" sz="2400" b="1">
                <a:ea typeface="+mn-lt"/>
                <a:cs typeface="+mn-lt"/>
              </a:rPr>
              <a:t>to_account</a:t>
            </a:r>
            <a:r>
              <a:rPr lang="ru-RU" sz="2400">
                <a:ea typeface="+mn-lt"/>
                <a:cs typeface="+mn-lt"/>
              </a:rPr>
              <a:t> (credit) / </a:t>
            </a:r>
            <a:r>
              <a:rPr lang="ru-RU" sz="2400" b="1">
                <a:ea typeface="+mn-lt"/>
                <a:cs typeface="+mn-lt"/>
              </a:rPr>
              <a:t>from_account </a:t>
            </a:r>
            <a:r>
              <a:rPr lang="ru-RU" sz="2400">
                <a:ea typeface="+mn-lt"/>
                <a:cs typeface="+mn-lt"/>
              </a:rPr>
              <a:t>(debit)</a:t>
            </a:r>
            <a:endParaRPr lang="ru-RU" sz="2400"/>
          </a:p>
          <a:p>
            <a:pPr>
              <a:buNone/>
            </a:pPr>
            <a:endParaRPr lang="ru-RU" sz="2400" b="1" dirty="0"/>
          </a:p>
          <a:p>
            <a:pPr>
              <a:buNone/>
            </a:pPr>
            <a:r>
              <a:rPr lang="ru-RU" sz="2000" b="1">
                <a:ea typeface="+mn-lt"/>
                <a:cs typeface="+mn-lt"/>
              </a:rPr>
              <a:t>Примечание:</a:t>
            </a:r>
            <a:endParaRPr lang="ru-RU" sz="2000" b="1"/>
          </a:p>
          <a:p>
            <a:r>
              <a:rPr lang="ru-RU" sz="2000" i="1">
                <a:ea typeface="+mn-lt"/>
                <a:cs typeface="+mn-lt"/>
              </a:rPr>
              <a:t>receipts</a:t>
            </a:r>
            <a:r>
              <a:rPr lang="ru-RU" sz="2000">
                <a:ea typeface="+mn-lt"/>
                <a:cs typeface="+mn-lt"/>
              </a:rPr>
              <a:t>: 7.6 ТБ (не шардируется, хранится на отдельном сервере)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387166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71525-AA28-7AA4-65F0-9C4CDCF9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Требования к серверам для шардов</a:t>
            </a:r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7A74B3B-70CC-A780-C2A9-6D3C0E33E0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645272"/>
              </p:ext>
            </p:extLst>
          </p:nvPr>
        </p:nvGraphicFramePr>
        <p:xfrm>
          <a:off x="838200" y="1524588"/>
          <a:ext cx="10515583" cy="3566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2377">
                  <a:extLst>
                    <a:ext uri="{9D8B030D-6E8A-4147-A177-3AD203B41FA5}">
                      <a16:colId xmlns:a16="http://schemas.microsoft.com/office/drawing/2014/main" val="4107550214"/>
                    </a:ext>
                  </a:extLst>
                </a:gridCol>
                <a:gridCol w="1635124">
                  <a:extLst>
                    <a:ext uri="{9D8B030D-6E8A-4147-A177-3AD203B41FA5}">
                      <a16:colId xmlns:a16="http://schemas.microsoft.com/office/drawing/2014/main" val="3923416796"/>
                    </a:ext>
                  </a:extLst>
                </a:gridCol>
                <a:gridCol w="4988082">
                  <a:extLst>
                    <a:ext uri="{9D8B030D-6E8A-4147-A177-3AD203B41FA5}">
                      <a16:colId xmlns:a16="http://schemas.microsoft.com/office/drawing/2014/main" val="619360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Параметр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Значение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Обоснование</a:t>
                      </a:r>
                      <a:endParaRPr lang="ru-RU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3073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Данных на шард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 ТБ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Оптимальный размер для PostgreSQL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414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Шардов на сервер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8 шардов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8 ТБ + запас для WAL, индексов = ~10 ТБ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0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Сервера для </a:t>
                      </a:r>
                      <a:r>
                        <a:rPr lang="ru-RU" sz="2000" b="0" i="1" u="none" strike="noStrike" noProof="0">
                          <a:latin typeface="Aptos"/>
                        </a:rPr>
                        <a:t>credit </a:t>
                      </a:r>
                      <a:r>
                        <a:rPr lang="ru-RU" sz="2000" b="0" i="0" u="none" strike="noStrike" noProof="0">
                          <a:latin typeface="Aptos"/>
                        </a:rPr>
                        <a:t>(основные)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74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⌈587 / 8⌉ = 74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8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Сервера для </a:t>
                      </a:r>
                      <a:r>
                        <a:rPr lang="ru-RU" sz="2000" b="0" i="1" u="none" strike="noStrike" noProof="0">
                          <a:latin typeface="Aptos"/>
                        </a:rPr>
                        <a:t>debit </a:t>
                      </a:r>
                      <a:r>
                        <a:rPr lang="ru-RU" sz="2000" b="0" i="0" u="none" strike="noStrike" noProof="0">
                          <a:latin typeface="Aptos"/>
                        </a:rPr>
                        <a:t>(основные)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⌈587 / 8⌉ = 74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26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/>
                        <a:t>Сервера для </a:t>
                      </a:r>
                      <a:r>
                        <a:rPr lang="ru-RU" sz="2000" b="0" i="1" u="none" strike="noStrike" noProof="0"/>
                        <a:t>receipts</a:t>
                      </a:r>
                      <a:endParaRPr lang="ru-RU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7.6 ТБ (не шардируется)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63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Сервера для основных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74 + 74 + 1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455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Сервера для их реплик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149 × 2 = </a:t>
                      </a:r>
                      <a:r>
                        <a:rPr lang="ru-RU" sz="2000" b="0" i="0" u="none" strike="noStrike" noProof="0"/>
                        <a:t>298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Для отказоустойчивости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6976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ИТОГО серверов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447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Только для исторических данных</a:t>
                      </a:r>
                      <a:endParaRPr lang="ru-RU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3672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EE23341-F8EB-3B07-7E57-11903FE6D377}"/>
              </a:ext>
            </a:extLst>
          </p:cNvPr>
          <p:cNvSpPr txBox="1"/>
          <p:nvPr/>
        </p:nvSpPr>
        <p:spPr>
          <a:xfrm>
            <a:off x="783771" y="5250811"/>
            <a:ext cx="1062445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b="1">
                <a:ea typeface="+mn-lt"/>
                <a:cs typeface="+mn-lt"/>
              </a:rPr>
              <a:t>Конфигурация сервера:</a:t>
            </a:r>
          </a:p>
          <a:p>
            <a:pPr marL="285750" indent="-285750">
              <a:buFont typeface="Arial"/>
              <a:buChar char="•"/>
            </a:pPr>
            <a:r>
              <a:rPr lang="ru-RU" sz="2000">
                <a:ea typeface="+mn-lt"/>
                <a:cs typeface="+mn-lt"/>
              </a:rPr>
              <a:t>CPU: 32 ядра (исторические данные, низкая нагрузка)</a:t>
            </a:r>
          </a:p>
          <a:p>
            <a:pPr marL="285750" indent="-285750">
              <a:buFont typeface="Arial"/>
              <a:buChar char="•"/>
            </a:pPr>
            <a:r>
              <a:rPr lang="ru-RU" sz="2000">
                <a:ea typeface="+mn-lt"/>
                <a:cs typeface="+mn-lt"/>
              </a:rPr>
              <a:t>RAM: 128 ГБ (для кэширования)</a:t>
            </a:r>
            <a:endParaRPr lang="ru-RU" sz="2000"/>
          </a:p>
          <a:p>
            <a:pPr marL="285750" indent="-285750">
              <a:buFont typeface="Arial"/>
              <a:buChar char="•"/>
            </a:pPr>
            <a:r>
              <a:rPr lang="ru-RU" sz="2000">
                <a:ea typeface="+mn-lt"/>
                <a:cs typeface="+mn-lt"/>
              </a:rPr>
              <a:t>Диск: 10 ТБ (8 ТБ данных + запас)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182507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AB867-2BD8-CE3B-FF8E-90998CE3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Полная картина хранения данных</a:t>
            </a:r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79530FD-1201-6171-A525-97D6650ED1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390986"/>
              </p:ext>
            </p:extLst>
          </p:nvPr>
        </p:nvGraphicFramePr>
        <p:xfrm>
          <a:off x="838200" y="1825625"/>
          <a:ext cx="10550567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6215">
                  <a:extLst>
                    <a:ext uri="{9D8B030D-6E8A-4147-A177-3AD203B41FA5}">
                      <a16:colId xmlns:a16="http://schemas.microsoft.com/office/drawing/2014/main" val="1232697524"/>
                    </a:ext>
                  </a:extLst>
                </a:gridCol>
                <a:gridCol w="1874107">
                  <a:extLst>
                    <a:ext uri="{9D8B030D-6E8A-4147-A177-3AD203B41FA5}">
                      <a16:colId xmlns:a16="http://schemas.microsoft.com/office/drawing/2014/main" val="4162104315"/>
                    </a:ext>
                  </a:extLst>
                </a:gridCol>
                <a:gridCol w="2059459">
                  <a:extLst>
                    <a:ext uri="{9D8B030D-6E8A-4147-A177-3AD203B41FA5}">
                      <a16:colId xmlns:a16="http://schemas.microsoft.com/office/drawing/2014/main" val="147242760"/>
                    </a:ext>
                  </a:extLst>
                </a:gridCol>
                <a:gridCol w="2481648">
                  <a:extLst>
                    <a:ext uri="{9D8B030D-6E8A-4147-A177-3AD203B41FA5}">
                      <a16:colId xmlns:a16="http://schemas.microsoft.com/office/drawing/2014/main" val="577299484"/>
                    </a:ext>
                  </a:extLst>
                </a:gridCol>
                <a:gridCol w="1149138">
                  <a:extLst>
                    <a:ext uri="{9D8B030D-6E8A-4147-A177-3AD203B41FA5}">
                      <a16:colId xmlns:a16="http://schemas.microsoft.com/office/drawing/2014/main" val="4160242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Компонент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Нагрузка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CPU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RAM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Кол-во</a:t>
                      </a:r>
                      <a:endParaRPr lang="ru-R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PostgreSQL Master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5 222 QPS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512 ГБ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3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PostgreSQL Replica × 2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9 425 QPS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48 </a:t>
                      </a:r>
                      <a:r>
                        <a:rPr lang="ru-RU" sz="2000" b="0" i="0" u="none" strike="noStrike" noProof="0"/>
                        <a:t>(24×2)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1024 ГБ </a:t>
                      </a:r>
                      <a:r>
                        <a:rPr lang="ru-RU" sz="2000" b="0" i="0" u="none" strike="noStrike" noProof="0">
                          <a:latin typeface="Aptos"/>
                        </a:rPr>
                        <a:t>(512×2)</a:t>
                      </a:r>
                      <a:endParaRPr lang="ru-RU" sz="2000" b="0" i="0" u="none" strike="noStrike" noProof="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49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PostgreSQL Shards (основные)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Низкая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/>
                        <a:t>4 704 (32×149)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/>
                        <a:t>19 ТБ (128 ГБ×149)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149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30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PostgreSQL Shards (реплики × 2)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Низкая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/>
                        <a:t>9 408 (32×</a:t>
                      </a:r>
                      <a:r>
                        <a:rPr lang="ru-RU" sz="2000" b="0" i="0" u="none" strike="noStrike" noProof="0" dirty="0">
                          <a:latin typeface="Aptos"/>
                        </a:rPr>
                        <a:t>298</a:t>
                      </a:r>
                      <a:r>
                        <a:rPr lang="ru-RU" sz="2000" b="0" i="0" u="none" strike="noStrike" noProof="0" dirty="0"/>
                        <a:t>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/>
                        <a:t>38 ТБ (12</a:t>
                      </a:r>
                      <a:r>
                        <a:rPr lang="ru-RU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8 </a:t>
                      </a: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ГБ</a:t>
                      </a:r>
                      <a:r>
                        <a:rPr lang="ru-RU" sz="2000" b="0" i="0" u="none" strike="noStrike" noProof="0"/>
                        <a:t>×</a:t>
                      </a:r>
                      <a:r>
                        <a:rPr lang="ru-RU" sz="2000" b="0" i="0" u="none" strike="noStrike" noProof="0">
                          <a:latin typeface="Aptos"/>
                        </a:rPr>
                        <a:t>298</a:t>
                      </a:r>
                      <a:r>
                        <a:rPr lang="ru-RU" sz="2000" b="0" i="0" u="none" strike="noStrike" noProof="0"/>
                        <a:t>)</a:t>
                      </a:r>
                      <a:endParaRPr lang="ru-RU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298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Redis Cluster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17 QPS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2 ГБ</a:t>
                      </a:r>
                      <a:endParaRPr lang="ru-RU" sz="20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645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ИТОГО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 dirty="0">
                          <a:latin typeface="Aptos"/>
                        </a:rPr>
                        <a:t>14 664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58 ТБ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 dirty="0">
                          <a:latin typeface="Aptos"/>
                        </a:rPr>
                        <a:t>453</a:t>
                      </a:r>
                      <a:endParaRPr lang="ru-R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30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7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CBFB60-4810-007D-A225-7FB94FBAD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5003" y="206829"/>
            <a:ext cx="7812880" cy="6455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70EC53-E1F9-76DD-C9C0-F530D13588AE}"/>
              </a:ext>
            </a:extLst>
          </p:cNvPr>
          <p:cNvSpPr txBox="1"/>
          <p:nvPr/>
        </p:nvSpPr>
        <p:spPr>
          <a:xfrm>
            <a:off x="348343" y="206828"/>
            <a:ext cx="326571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latin typeface="Aptos Display"/>
                <a:ea typeface="+mn-lt"/>
                <a:cs typeface="+mn-lt"/>
              </a:rPr>
              <a:t>Логическая схема БД</a:t>
            </a:r>
            <a:endParaRPr lang="ru-RU" sz="4400">
              <a:latin typeface="Aptos Display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36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AEF8-8DD6-0160-A7BC-73566200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25C5A1-0DD1-8643-25CB-88AE505A0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0885" y="163286"/>
            <a:ext cx="6810228" cy="65205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BD8700-D21C-418A-78DA-953FB019526E}"/>
              </a:ext>
            </a:extLst>
          </p:cNvPr>
          <p:cNvSpPr txBox="1"/>
          <p:nvPr/>
        </p:nvSpPr>
        <p:spPr>
          <a:xfrm>
            <a:off x="348343" y="163286"/>
            <a:ext cx="39624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latin typeface="Aptos Display"/>
                <a:ea typeface="+mn-lt"/>
                <a:cs typeface="+mn-lt"/>
              </a:rPr>
              <a:t>Физическая схема БД</a:t>
            </a:r>
            <a:endParaRPr lang="ru-RU" sz="4400">
              <a:latin typeface="Aptos Display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7989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B2D10-388F-5823-A8BD-900E7972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Стоимость серверов для данных</a:t>
            </a:r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3D16520-430E-66C5-C2DF-5F0EA7ECB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150834"/>
              </p:ext>
            </p:extLst>
          </p:nvPr>
        </p:nvGraphicFramePr>
        <p:xfrm>
          <a:off x="838200" y="1825625"/>
          <a:ext cx="10469917" cy="268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2080">
                  <a:extLst>
                    <a:ext uri="{9D8B030D-6E8A-4147-A177-3AD203B41FA5}">
                      <a16:colId xmlns:a16="http://schemas.microsoft.com/office/drawing/2014/main" val="282287958"/>
                    </a:ext>
                  </a:extLst>
                </a:gridCol>
                <a:gridCol w="3336322">
                  <a:extLst>
                    <a:ext uri="{9D8B030D-6E8A-4147-A177-3AD203B41FA5}">
                      <a16:colId xmlns:a16="http://schemas.microsoft.com/office/drawing/2014/main" val="2893206351"/>
                    </a:ext>
                  </a:extLst>
                </a:gridCol>
                <a:gridCol w="1258229">
                  <a:extLst>
                    <a:ext uri="{9D8B030D-6E8A-4147-A177-3AD203B41FA5}">
                      <a16:colId xmlns:a16="http://schemas.microsoft.com/office/drawing/2014/main" val="3484645748"/>
                    </a:ext>
                  </a:extLst>
                </a:gridCol>
                <a:gridCol w="1993286">
                  <a:extLst>
                    <a:ext uri="{9D8B030D-6E8A-4147-A177-3AD203B41FA5}">
                      <a16:colId xmlns:a16="http://schemas.microsoft.com/office/drawing/2014/main" val="2001030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Компонент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Конфигурация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Кол-во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Итог. цена/мес</a:t>
                      </a:r>
                      <a:endParaRPr lang="ru-RU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98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PostgreSQL Master + Replica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128 ядер, 512 GB RAM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$924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67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PostgreSQL Shards (основные)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32 ядра, 128 GB RAM, 10 ТБ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149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$37 250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750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PostgreSQL Shards (реплики × 2)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32 ядра, 128 GB RAM, 10 ТБ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 dirty="0">
                          <a:latin typeface="Aptos"/>
                        </a:rPr>
                        <a:t>298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$74 500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5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Redis Cluster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128 ядер, 128 GB RAM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$500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2007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/>
                        <a:t>ИТОГО</a:t>
                      </a:r>
                      <a:endParaRPr lang="ru-R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ru-RU" sz="2000" b="1" i="0" u="none" strike="noStrike" noProof="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ru-RU" sz="2000" b="1" i="0" u="none" strike="noStrike" noProof="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$113 174</a:t>
                      </a:r>
                      <a:endParaRPr lang="ru-RU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596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A220BA-B459-F310-9F5B-0EFD05A04E6C}"/>
              </a:ext>
            </a:extLst>
          </p:cNvPr>
          <p:cNvSpPr txBox="1"/>
          <p:nvPr/>
        </p:nvSpPr>
        <p:spPr>
          <a:xfrm>
            <a:off x="837259" y="4510852"/>
            <a:ext cx="1047044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i="1"/>
              <a:t>Покупка аппаратуры на 5 лет обойдется в $6 790 440</a:t>
            </a: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1906318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A3E71-74A7-B492-B83F-B3764FA5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Стоимость серверов для других сервисов</a:t>
            </a:r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12302FF-7DDA-6F5E-C204-10B767BF6A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573205"/>
              </p:ext>
            </p:extLst>
          </p:nvPr>
        </p:nvGraphicFramePr>
        <p:xfrm>
          <a:off x="838200" y="1787995"/>
          <a:ext cx="10417728" cy="3078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6135">
                  <a:extLst>
                    <a:ext uri="{9D8B030D-6E8A-4147-A177-3AD203B41FA5}">
                      <a16:colId xmlns:a16="http://schemas.microsoft.com/office/drawing/2014/main" val="1619158224"/>
                    </a:ext>
                  </a:extLst>
                </a:gridCol>
                <a:gridCol w="3696727">
                  <a:extLst>
                    <a:ext uri="{9D8B030D-6E8A-4147-A177-3AD203B41FA5}">
                      <a16:colId xmlns:a16="http://schemas.microsoft.com/office/drawing/2014/main" val="908793898"/>
                    </a:ext>
                  </a:extLst>
                </a:gridCol>
                <a:gridCol w="1060618">
                  <a:extLst>
                    <a:ext uri="{9D8B030D-6E8A-4147-A177-3AD203B41FA5}">
                      <a16:colId xmlns:a16="http://schemas.microsoft.com/office/drawing/2014/main" val="1035507513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3071087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000" b="1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Компонент</a:t>
                      </a:r>
                      <a:endParaRPr lang="ru-RU" sz="2000" b="1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/>
                        <a:t>Конфигурация</a:t>
                      </a:r>
                      <a:endParaRPr lang="ru-RU" sz="2000" b="1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Кол-во</a:t>
                      </a:r>
                      <a:endParaRPr lang="ru-RU" sz="2000" b="1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Итог. цена/мес</a:t>
                      </a:r>
                      <a:endParaRPr lang="ru-RU" sz="2000" i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530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NGINX L7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128 ядер, 128 GB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$2 100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67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Kubernetes Master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128 ядер, 256 GB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$750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03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Kubernetes Worker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128 ядер, 512 GB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$925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06681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ClickHouse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dirty="0"/>
                        <a:t>14 </a:t>
                      </a: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ядер, 64 GB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$80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79367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HashiCorp Vault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/>
                        <a:t>14 </a:t>
                      </a:r>
                      <a:r>
                        <a:rPr lang="ru-RU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ядер, 32 GB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0" i="0" u="none" strike="noStrike" noProof="0">
                          <a:latin typeface="Aptos"/>
                        </a:rPr>
                        <a:t>$50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41126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latin typeface="Aptos"/>
                        </a:rPr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ru-RU" sz="2000" b="1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0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$3 905</a:t>
                      </a:r>
                      <a:endParaRPr lang="ru-RU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7687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26859D-FDE5-DABC-8D88-BD17DD9D80F3}"/>
              </a:ext>
            </a:extLst>
          </p:cNvPr>
          <p:cNvSpPr txBox="1"/>
          <p:nvPr/>
        </p:nvSpPr>
        <p:spPr>
          <a:xfrm>
            <a:off x="837259" y="4924778"/>
            <a:ext cx="1047044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i="1"/>
              <a:t>Покупка аппаратуры на 5 лет обойдется в $234 300</a:t>
            </a: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4226127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313BB43F-4932-4EDA-A174-F341BA5DBD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2908771" y="1716734"/>
            <a:ext cx="6365051" cy="35938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F92BF-7CB5-9AD9-248E-55EDA88F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Итоговая стоимость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11730D8-AED1-202C-50D3-21879678D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725062"/>
              </p:ext>
            </p:extLst>
          </p:nvPr>
        </p:nvGraphicFramePr>
        <p:xfrm>
          <a:off x="3273777" y="2502371"/>
          <a:ext cx="5640712" cy="18349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7501">
                  <a:extLst>
                    <a:ext uri="{9D8B030D-6E8A-4147-A177-3AD203B41FA5}">
                      <a16:colId xmlns:a16="http://schemas.microsoft.com/office/drawing/2014/main" val="742386347"/>
                    </a:ext>
                  </a:extLst>
                </a:gridCol>
                <a:gridCol w="3053211">
                  <a:extLst>
                    <a:ext uri="{9D8B030D-6E8A-4147-A177-3AD203B41FA5}">
                      <a16:colId xmlns:a16="http://schemas.microsoft.com/office/drawing/2014/main" val="3031500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400" b="1" u="none" strike="noStrike" noProof="0"/>
                        <a:t>Категория</a:t>
                      </a:r>
                      <a:endParaRPr lang="ru-R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400" b="1" u="none" strike="noStrike" noProof="0"/>
                        <a:t>Стоимость за 5 лет</a:t>
                      </a:r>
                      <a:endParaRPr lang="ru-RU" sz="2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42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400" u="none" strike="noStrike" noProof="0"/>
                        <a:t>Данные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noProof="0">
                          <a:solidFill>
                            <a:srgbClr val="000000"/>
                          </a:solidFill>
                        </a:rPr>
                        <a:t>$6 790 440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16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400" u="none" strike="noStrike" noProof="0"/>
                        <a:t>Сервисы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noProof="0">
                          <a:solidFill>
                            <a:srgbClr val="000000"/>
                          </a:solidFill>
                        </a:rPr>
                        <a:t>$234 300</a:t>
                      </a:r>
                      <a:endParaRPr lang="ru-RU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437212"/>
                  </a:ext>
                </a:extLst>
              </a:tr>
              <a:tr h="463378">
                <a:tc>
                  <a:txBody>
                    <a:bodyPr/>
                    <a:lstStyle/>
                    <a:p>
                      <a:pPr algn="ctr"/>
                      <a:r>
                        <a:rPr lang="ru-RU" sz="2400" b="1"/>
                        <a:t>ВСЕГО</a:t>
                      </a:r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u="none"/>
                        <a:t>$ </a:t>
                      </a:r>
                      <a:r>
                        <a:rPr lang="ru-RU" sz="2400" b="1" u="none" strike="noStrike" noProof="0"/>
                        <a:t>7 024 740</a:t>
                      </a:r>
                      <a:endParaRPr lang="ru-RU" sz="24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064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440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B2005-F5BA-17DD-08E3-FF7E8866E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2303"/>
          </a:xfrm>
        </p:spPr>
        <p:txBody>
          <a:bodyPr/>
          <a:lstStyle/>
          <a:p>
            <a:r>
              <a:rPr lang="ru-RU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2445033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15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Сбербанк Онлайн как highload-система</vt:lpstr>
      <vt:lpstr>Исходные данные: масштаб системы</vt:lpstr>
      <vt:lpstr>Расчет нагрузки: ключевые метрики</vt:lpstr>
      <vt:lpstr>Архитектура: функциональное разбиение по доменам</vt:lpstr>
      <vt:lpstr>Презентация PowerPoint</vt:lpstr>
      <vt:lpstr>Проблема: объём данных в базе данных</vt:lpstr>
      <vt:lpstr>Решение: шардирование транзакций</vt:lpstr>
      <vt:lpstr>Требования к серверам для шардов</vt:lpstr>
      <vt:lpstr>Полная картина хранения данных</vt:lpstr>
      <vt:lpstr>Презентация PowerPoint</vt:lpstr>
      <vt:lpstr>Презентация PowerPoint</vt:lpstr>
      <vt:lpstr>Стоимость серверов для данных</vt:lpstr>
      <vt:lpstr>Стоимость серверов для других сервисов</vt:lpstr>
      <vt:lpstr>Итоговая стоимость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805</cp:revision>
  <dcterms:created xsi:type="dcterms:W3CDTF">2025-11-27T11:29:08Z</dcterms:created>
  <dcterms:modified xsi:type="dcterms:W3CDTF">2025-12-04T17:58:55Z</dcterms:modified>
</cp:coreProperties>
</file>